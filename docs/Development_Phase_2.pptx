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  <p:sldMasterId id="2147483839" r:id="rId2"/>
    <p:sldMasterId id="2147483851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7" r:id="rId5"/>
    <p:sldId id="258" r:id="rId6"/>
    <p:sldId id="259" r:id="rId7"/>
    <p:sldId id="260" r:id="rId8"/>
    <p:sldId id="264" r:id="rId9"/>
    <p:sldId id="265" r:id="rId10"/>
    <p:sldId id="266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78" autoAdjust="0"/>
  </p:normalViewPr>
  <p:slideViewPr>
    <p:cSldViewPr snapToGrid="0">
      <p:cViewPr>
        <p:scale>
          <a:sx n="100" d="100"/>
          <a:sy n="100" d="100"/>
        </p:scale>
        <p:origin x="2622" y="12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4C14AF-2079-4EBF-B501-DD7E5DB4F350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CB9CD3-2864-48D5-81CE-6E6B7FC36615}">
      <dgm:prSet phldrT="[Text]" phldr="0" custT="1"/>
      <dgm:spPr/>
      <dgm:t>
        <a:bodyPr anchor="t"/>
        <a:lstStyle/>
        <a:p>
          <a:pPr algn="l"/>
          <a:r>
            <a:rPr lang="en-US" sz="1600" b="1" dirty="0"/>
            <a:t>CLI (Boundary)</a:t>
          </a:r>
        </a:p>
        <a:p>
          <a:pPr algn="l"/>
          <a:r>
            <a:rPr lang="en-US" sz="1400" dirty="0"/>
            <a:t>questionary menus</a:t>
          </a:r>
        </a:p>
        <a:p>
          <a:pPr algn="l"/>
          <a:r>
            <a:rPr lang="en-US" sz="1400" dirty="0"/>
            <a:t>input validation</a:t>
          </a:r>
        </a:p>
        <a:p>
          <a:pPr algn="l"/>
          <a:r>
            <a:rPr lang="en-US" sz="1400" dirty="0"/>
            <a:t>prints results </a:t>
          </a:r>
        </a:p>
      </dgm:t>
    </dgm:pt>
    <dgm:pt modelId="{E220E691-E4A4-411C-A6E9-9A6798F031B2}" type="parTrans" cxnId="{C94A8B56-4651-4598-B593-57936ADC346B}">
      <dgm:prSet/>
      <dgm:spPr/>
      <dgm:t>
        <a:bodyPr/>
        <a:lstStyle/>
        <a:p>
          <a:endParaRPr lang="en-US"/>
        </a:p>
      </dgm:t>
    </dgm:pt>
    <dgm:pt modelId="{7835679A-8E23-4E98-BC94-DA24BA320BBD}" type="sibTrans" cxnId="{C94A8B56-4651-4598-B593-57936ADC346B}">
      <dgm:prSet/>
      <dgm:spPr/>
      <dgm:t>
        <a:bodyPr/>
        <a:lstStyle/>
        <a:p>
          <a:endParaRPr lang="en-US"/>
        </a:p>
      </dgm:t>
    </dgm:pt>
    <dgm:pt modelId="{D1D72FF8-2103-4A93-B8BC-F2224F0757C6}">
      <dgm:prSet phldrT="[Text]" custT="1"/>
      <dgm:spPr/>
      <dgm:t>
        <a:bodyPr spcFirstLastPara="0" vert="horz" wrap="square" lIns="68580" tIns="68580" rIns="68580" bIns="68580" numCol="1" spcCol="1270" anchor="t" anchorCtr="0"/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/>
              <a:ea typeface="+mn-ea"/>
              <a:cs typeface="+mn-cs"/>
            </a:rPr>
            <a:t>Logic (Control)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HabitManager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AuthManager</a:t>
          </a:r>
          <a:r>
            <a:rPr lang="en-US" sz="1400" b="0" kern="1200" dirty="0">
              <a:latin typeface="Calibri"/>
              <a:ea typeface="+mn-ea"/>
              <a:cs typeface="+mn-cs"/>
            </a:rPr>
            <a:t> (optional)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write-through saves</a:t>
          </a:r>
        </a:p>
      </dgm:t>
    </dgm:pt>
    <dgm:pt modelId="{4A2937DD-C448-4228-B3F0-F7BFDBCFAA42}" type="parTrans" cxnId="{E2A6FDD6-8A95-4D8B-9747-F81B39EBB774}">
      <dgm:prSet/>
      <dgm:spPr/>
      <dgm:t>
        <a:bodyPr/>
        <a:lstStyle/>
        <a:p>
          <a:endParaRPr lang="en-US"/>
        </a:p>
      </dgm:t>
    </dgm:pt>
    <dgm:pt modelId="{AD18C7D7-BCA7-46DB-B344-D72C84D0B2A4}" type="sibTrans" cxnId="{E2A6FDD6-8A95-4D8B-9747-F81B39EBB774}">
      <dgm:prSet/>
      <dgm:spPr/>
      <dgm:t>
        <a:bodyPr/>
        <a:lstStyle/>
        <a:p>
          <a:endParaRPr lang="en-US"/>
        </a:p>
      </dgm:t>
    </dgm:pt>
    <dgm:pt modelId="{62832B89-BCE8-4133-A127-8E040EA8FDBB}">
      <dgm:prSet custT="1"/>
      <dgm:spPr/>
      <dgm:t>
        <a:bodyPr anchor="t"/>
        <a:lstStyle/>
        <a:p>
          <a:pPr marL="0"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Storage (Persistence)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Storage interface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SqliteStorage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JsonStorage</a:t>
          </a:r>
          <a:endParaRPr lang="en-US" sz="1400" b="0" kern="1200" dirty="0">
            <a:latin typeface="Calibri"/>
            <a:ea typeface="+mn-ea"/>
            <a:cs typeface="+mn-cs"/>
          </a:endParaRPr>
        </a:p>
      </dgm:t>
    </dgm:pt>
    <dgm:pt modelId="{2618A537-EFC3-4702-8943-82B05AE6737B}" type="parTrans" cxnId="{B6AD7CEA-5A39-4B70-8170-464A934C65CB}">
      <dgm:prSet/>
      <dgm:spPr/>
      <dgm:t>
        <a:bodyPr/>
        <a:lstStyle/>
        <a:p>
          <a:endParaRPr lang="en-US"/>
        </a:p>
      </dgm:t>
    </dgm:pt>
    <dgm:pt modelId="{FCDE07B5-60A9-42FD-AF0B-F5BE845BF439}" type="sibTrans" cxnId="{B6AD7CEA-5A39-4B70-8170-464A934C65CB}">
      <dgm:prSet/>
      <dgm:spPr/>
      <dgm:t>
        <a:bodyPr/>
        <a:lstStyle/>
        <a:p>
          <a:endParaRPr lang="en-US"/>
        </a:p>
      </dgm:t>
    </dgm:pt>
    <dgm:pt modelId="{20B26193-4670-4C25-86BC-21BC36D2013B}">
      <dgm:prSet custT="1"/>
      <dgm:spPr/>
      <dgm:t>
        <a:bodyPr anchor="t"/>
        <a:lstStyle/>
        <a:p>
          <a:pPr marL="0"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Analytics (Functional)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pure functions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streaks &amp; filters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no I/O side-effects</a:t>
          </a:r>
        </a:p>
      </dgm:t>
    </dgm:pt>
    <dgm:pt modelId="{1D351E60-81BB-43CD-998B-A8216A0517E8}" type="parTrans" cxnId="{20EC02C6-7EF3-4C32-95EA-93E19E79F094}">
      <dgm:prSet/>
      <dgm:spPr/>
      <dgm:t>
        <a:bodyPr/>
        <a:lstStyle/>
        <a:p>
          <a:endParaRPr lang="en-US"/>
        </a:p>
      </dgm:t>
    </dgm:pt>
    <dgm:pt modelId="{1D1DCE40-BCE1-43F4-9179-F44400179A43}" type="sibTrans" cxnId="{20EC02C6-7EF3-4C32-95EA-93E19E79F094}">
      <dgm:prSet/>
      <dgm:spPr/>
      <dgm:t>
        <a:bodyPr/>
        <a:lstStyle/>
        <a:p>
          <a:endParaRPr lang="en-US"/>
        </a:p>
      </dgm:t>
    </dgm:pt>
    <dgm:pt modelId="{046AE456-8658-4FD9-A66D-23E50ED40168}" type="pres">
      <dgm:prSet presAssocID="{804C14AF-2079-4EBF-B501-DD7E5DB4F350}" presName="Name0" presStyleCnt="0">
        <dgm:presLayoutVars>
          <dgm:dir/>
          <dgm:resizeHandles val="exact"/>
        </dgm:presLayoutVars>
      </dgm:prSet>
      <dgm:spPr/>
    </dgm:pt>
    <dgm:pt modelId="{5D33E444-1900-4EA5-99BA-6F136029E0A7}" type="pres">
      <dgm:prSet presAssocID="{64CB9CD3-2864-48D5-81CE-6E6B7FC36615}" presName="node" presStyleLbl="node1" presStyleIdx="0" presStyleCnt="4">
        <dgm:presLayoutVars>
          <dgm:bulletEnabled val="1"/>
        </dgm:presLayoutVars>
      </dgm:prSet>
      <dgm:spPr/>
    </dgm:pt>
    <dgm:pt modelId="{4AF0510B-34F6-49BF-A47A-74E20E2A7E02}" type="pres">
      <dgm:prSet presAssocID="{7835679A-8E23-4E98-BC94-DA24BA320BBD}" presName="sibTrans" presStyleLbl="sibTrans2D1" presStyleIdx="0" presStyleCnt="3"/>
      <dgm:spPr/>
    </dgm:pt>
    <dgm:pt modelId="{C3BE9239-9D1A-4A39-896F-29975C0941C5}" type="pres">
      <dgm:prSet presAssocID="{7835679A-8E23-4E98-BC94-DA24BA320BBD}" presName="connectorText" presStyleLbl="sibTrans2D1" presStyleIdx="0" presStyleCnt="3"/>
      <dgm:spPr/>
    </dgm:pt>
    <dgm:pt modelId="{0860C7CC-2F13-49A4-B6FA-18FB7B9F8ECF}" type="pres">
      <dgm:prSet presAssocID="{D1D72FF8-2103-4A93-B8BC-F2224F0757C6}" presName="node" presStyleLbl="node1" presStyleIdx="1" presStyleCnt="4">
        <dgm:presLayoutVars>
          <dgm:bulletEnabled val="1"/>
        </dgm:presLayoutVars>
      </dgm:prSet>
      <dgm:spPr>
        <a:xfrm>
          <a:off x="2699377" y="535411"/>
          <a:ext cx="1924982" cy="2053376"/>
        </a:xfrm>
        <a:prstGeom prst="roundRect">
          <a:avLst>
            <a:gd name="adj" fmla="val 10000"/>
          </a:avLst>
        </a:prstGeom>
      </dgm:spPr>
    </dgm:pt>
    <dgm:pt modelId="{C90C0909-D885-4808-AC0A-16C07151C133}" type="pres">
      <dgm:prSet presAssocID="{AD18C7D7-BCA7-46DB-B344-D72C84D0B2A4}" presName="sibTrans" presStyleLbl="sibTrans2D1" presStyleIdx="1" presStyleCnt="3"/>
      <dgm:spPr/>
    </dgm:pt>
    <dgm:pt modelId="{4DAEF777-C9BF-4634-9105-863608FF7E42}" type="pres">
      <dgm:prSet presAssocID="{AD18C7D7-BCA7-46DB-B344-D72C84D0B2A4}" presName="connectorText" presStyleLbl="sibTrans2D1" presStyleIdx="1" presStyleCnt="3"/>
      <dgm:spPr/>
    </dgm:pt>
    <dgm:pt modelId="{9259BF9B-9E85-417A-A4E0-703D37423EB7}" type="pres">
      <dgm:prSet presAssocID="{62832B89-BCE8-4133-A127-8E040EA8FDBB}" presName="node" presStyleLbl="node1" presStyleIdx="2" presStyleCnt="4">
        <dgm:presLayoutVars>
          <dgm:bulletEnabled val="1"/>
        </dgm:presLayoutVars>
      </dgm:prSet>
      <dgm:spPr/>
    </dgm:pt>
    <dgm:pt modelId="{7D298A30-D188-400F-87CC-3591A9EF35E6}" type="pres">
      <dgm:prSet presAssocID="{FCDE07B5-60A9-42FD-AF0B-F5BE845BF439}" presName="sibTrans" presStyleLbl="sibTrans2D1" presStyleIdx="2" presStyleCnt="3"/>
      <dgm:spPr/>
    </dgm:pt>
    <dgm:pt modelId="{1C1E7D82-96A6-4AB9-A86A-E5D30314DFFA}" type="pres">
      <dgm:prSet presAssocID="{FCDE07B5-60A9-42FD-AF0B-F5BE845BF439}" presName="connectorText" presStyleLbl="sibTrans2D1" presStyleIdx="2" presStyleCnt="3"/>
      <dgm:spPr/>
    </dgm:pt>
    <dgm:pt modelId="{6D0BC9D2-2A0D-4E3B-BD17-921866035BA2}" type="pres">
      <dgm:prSet presAssocID="{20B26193-4670-4C25-86BC-21BC36D2013B}" presName="node" presStyleLbl="node1" presStyleIdx="3" presStyleCnt="4">
        <dgm:presLayoutVars>
          <dgm:bulletEnabled val="1"/>
        </dgm:presLayoutVars>
      </dgm:prSet>
      <dgm:spPr/>
    </dgm:pt>
  </dgm:ptLst>
  <dgm:cxnLst>
    <dgm:cxn modelId="{00F09E1D-8711-4D5C-9FA5-E5331DE50071}" type="presOf" srcId="{D1D72FF8-2103-4A93-B8BC-F2224F0757C6}" destId="{0860C7CC-2F13-49A4-B6FA-18FB7B9F8ECF}" srcOrd="0" destOrd="0" presId="urn:microsoft.com/office/officeart/2005/8/layout/process1"/>
    <dgm:cxn modelId="{DDA68F1F-9AF6-4512-B246-11B98745070A}" type="presOf" srcId="{62832B89-BCE8-4133-A127-8E040EA8FDBB}" destId="{9259BF9B-9E85-417A-A4E0-703D37423EB7}" srcOrd="0" destOrd="0" presId="urn:microsoft.com/office/officeart/2005/8/layout/process1"/>
    <dgm:cxn modelId="{AB59CE24-435C-419D-BAFD-6FF10FB5D5A1}" type="presOf" srcId="{64CB9CD3-2864-48D5-81CE-6E6B7FC36615}" destId="{5D33E444-1900-4EA5-99BA-6F136029E0A7}" srcOrd="0" destOrd="0" presId="urn:microsoft.com/office/officeart/2005/8/layout/process1"/>
    <dgm:cxn modelId="{D6A4D837-83F9-463F-B810-525760238389}" type="presOf" srcId="{AD18C7D7-BCA7-46DB-B344-D72C84D0B2A4}" destId="{4DAEF777-C9BF-4634-9105-863608FF7E42}" srcOrd="1" destOrd="0" presId="urn:microsoft.com/office/officeart/2005/8/layout/process1"/>
    <dgm:cxn modelId="{18273160-F878-4112-8407-14E5FF668130}" type="presOf" srcId="{FCDE07B5-60A9-42FD-AF0B-F5BE845BF439}" destId="{1C1E7D82-96A6-4AB9-A86A-E5D30314DFFA}" srcOrd="1" destOrd="0" presId="urn:microsoft.com/office/officeart/2005/8/layout/process1"/>
    <dgm:cxn modelId="{5BC39C74-18BC-4427-997D-358F4795D04F}" type="presOf" srcId="{804C14AF-2079-4EBF-B501-DD7E5DB4F350}" destId="{046AE456-8658-4FD9-A66D-23E50ED40168}" srcOrd="0" destOrd="0" presId="urn:microsoft.com/office/officeart/2005/8/layout/process1"/>
    <dgm:cxn modelId="{C94A8B56-4651-4598-B593-57936ADC346B}" srcId="{804C14AF-2079-4EBF-B501-DD7E5DB4F350}" destId="{64CB9CD3-2864-48D5-81CE-6E6B7FC36615}" srcOrd="0" destOrd="0" parTransId="{E220E691-E4A4-411C-A6E9-9A6798F031B2}" sibTransId="{7835679A-8E23-4E98-BC94-DA24BA320BBD}"/>
    <dgm:cxn modelId="{87AAA29B-EA7A-4575-8646-C7082BF602EA}" type="presOf" srcId="{7835679A-8E23-4E98-BC94-DA24BA320BBD}" destId="{4AF0510B-34F6-49BF-A47A-74E20E2A7E02}" srcOrd="0" destOrd="0" presId="urn:microsoft.com/office/officeart/2005/8/layout/process1"/>
    <dgm:cxn modelId="{5414239F-7634-461C-9311-D9B423514A58}" type="presOf" srcId="{AD18C7D7-BCA7-46DB-B344-D72C84D0B2A4}" destId="{C90C0909-D885-4808-AC0A-16C07151C133}" srcOrd="0" destOrd="0" presId="urn:microsoft.com/office/officeart/2005/8/layout/process1"/>
    <dgm:cxn modelId="{E62466A7-BDF0-4F3B-B26C-74A0BBFB20F6}" type="presOf" srcId="{7835679A-8E23-4E98-BC94-DA24BA320BBD}" destId="{C3BE9239-9D1A-4A39-896F-29975C0941C5}" srcOrd="1" destOrd="0" presId="urn:microsoft.com/office/officeart/2005/8/layout/process1"/>
    <dgm:cxn modelId="{97F741C0-5BC8-43A5-BCBB-FAB33A2E5394}" type="presOf" srcId="{20B26193-4670-4C25-86BC-21BC36D2013B}" destId="{6D0BC9D2-2A0D-4E3B-BD17-921866035BA2}" srcOrd="0" destOrd="0" presId="urn:microsoft.com/office/officeart/2005/8/layout/process1"/>
    <dgm:cxn modelId="{20EC02C6-7EF3-4C32-95EA-93E19E79F094}" srcId="{804C14AF-2079-4EBF-B501-DD7E5DB4F350}" destId="{20B26193-4670-4C25-86BC-21BC36D2013B}" srcOrd="3" destOrd="0" parTransId="{1D351E60-81BB-43CD-998B-A8216A0517E8}" sibTransId="{1D1DCE40-BCE1-43F4-9179-F44400179A43}"/>
    <dgm:cxn modelId="{E2A6FDD6-8A95-4D8B-9747-F81B39EBB774}" srcId="{804C14AF-2079-4EBF-B501-DD7E5DB4F350}" destId="{D1D72FF8-2103-4A93-B8BC-F2224F0757C6}" srcOrd="1" destOrd="0" parTransId="{4A2937DD-C448-4228-B3F0-F7BFDBCFAA42}" sibTransId="{AD18C7D7-BCA7-46DB-B344-D72C84D0B2A4}"/>
    <dgm:cxn modelId="{B6AD7CEA-5A39-4B70-8170-464A934C65CB}" srcId="{804C14AF-2079-4EBF-B501-DD7E5DB4F350}" destId="{62832B89-BCE8-4133-A127-8E040EA8FDBB}" srcOrd="2" destOrd="0" parTransId="{2618A537-EFC3-4702-8943-82B05AE6737B}" sibTransId="{FCDE07B5-60A9-42FD-AF0B-F5BE845BF439}"/>
    <dgm:cxn modelId="{8792E5EA-BB7B-4DD0-B548-BF75529941D9}" type="presOf" srcId="{FCDE07B5-60A9-42FD-AF0B-F5BE845BF439}" destId="{7D298A30-D188-400F-87CC-3591A9EF35E6}" srcOrd="0" destOrd="0" presId="urn:microsoft.com/office/officeart/2005/8/layout/process1"/>
    <dgm:cxn modelId="{03AE6FBF-A820-4B19-97A4-8D5EA0793731}" type="presParOf" srcId="{046AE456-8658-4FD9-A66D-23E50ED40168}" destId="{5D33E444-1900-4EA5-99BA-6F136029E0A7}" srcOrd="0" destOrd="0" presId="urn:microsoft.com/office/officeart/2005/8/layout/process1"/>
    <dgm:cxn modelId="{5D1085B6-DC99-4574-9872-FCE1ED8F0647}" type="presParOf" srcId="{046AE456-8658-4FD9-A66D-23E50ED40168}" destId="{4AF0510B-34F6-49BF-A47A-74E20E2A7E02}" srcOrd="1" destOrd="0" presId="urn:microsoft.com/office/officeart/2005/8/layout/process1"/>
    <dgm:cxn modelId="{F9B2FCD2-F60B-42A5-BAFE-7BC1F1E18F7F}" type="presParOf" srcId="{4AF0510B-34F6-49BF-A47A-74E20E2A7E02}" destId="{C3BE9239-9D1A-4A39-896F-29975C0941C5}" srcOrd="0" destOrd="0" presId="urn:microsoft.com/office/officeart/2005/8/layout/process1"/>
    <dgm:cxn modelId="{3CB36223-0161-460A-A2BE-BDA7F84D6660}" type="presParOf" srcId="{046AE456-8658-4FD9-A66D-23E50ED40168}" destId="{0860C7CC-2F13-49A4-B6FA-18FB7B9F8ECF}" srcOrd="2" destOrd="0" presId="urn:microsoft.com/office/officeart/2005/8/layout/process1"/>
    <dgm:cxn modelId="{2D9ADBF2-7CEC-4D73-BE40-D7311AEC2005}" type="presParOf" srcId="{046AE456-8658-4FD9-A66D-23E50ED40168}" destId="{C90C0909-D885-4808-AC0A-16C07151C133}" srcOrd="3" destOrd="0" presId="urn:microsoft.com/office/officeart/2005/8/layout/process1"/>
    <dgm:cxn modelId="{E43DACAA-10F9-4556-B727-5C2A1913F2A8}" type="presParOf" srcId="{C90C0909-D885-4808-AC0A-16C07151C133}" destId="{4DAEF777-C9BF-4634-9105-863608FF7E42}" srcOrd="0" destOrd="0" presId="urn:microsoft.com/office/officeart/2005/8/layout/process1"/>
    <dgm:cxn modelId="{3C15166A-0A55-4F02-B7B2-95C40ABF9673}" type="presParOf" srcId="{046AE456-8658-4FD9-A66D-23E50ED40168}" destId="{9259BF9B-9E85-417A-A4E0-703D37423EB7}" srcOrd="4" destOrd="0" presId="urn:microsoft.com/office/officeart/2005/8/layout/process1"/>
    <dgm:cxn modelId="{4AEB4EDB-3B6C-4831-A542-C991FE620684}" type="presParOf" srcId="{046AE456-8658-4FD9-A66D-23E50ED40168}" destId="{7D298A30-D188-400F-87CC-3591A9EF35E6}" srcOrd="5" destOrd="0" presId="urn:microsoft.com/office/officeart/2005/8/layout/process1"/>
    <dgm:cxn modelId="{05D0E783-0522-46CC-96C3-53CAE88CE6E1}" type="presParOf" srcId="{7D298A30-D188-400F-87CC-3591A9EF35E6}" destId="{1C1E7D82-96A6-4AB9-A86A-E5D30314DFFA}" srcOrd="0" destOrd="0" presId="urn:microsoft.com/office/officeart/2005/8/layout/process1"/>
    <dgm:cxn modelId="{1E18FD9A-43AD-4CEC-B516-633DFFF7C121}" type="presParOf" srcId="{046AE456-8658-4FD9-A66D-23E50ED40168}" destId="{6D0BC9D2-2A0D-4E3B-BD17-921866035BA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3E444-1900-4EA5-99BA-6F136029E0A7}">
      <dsp:nvSpPr>
        <dsp:cNvPr id="0" name=""/>
        <dsp:cNvSpPr/>
      </dsp:nvSpPr>
      <dsp:spPr>
        <a:xfrm>
          <a:off x="4378" y="760193"/>
          <a:ext cx="1914511" cy="1458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CLI (Boundary)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questionary menus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validation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prints results </a:t>
          </a:r>
        </a:p>
      </dsp:txBody>
      <dsp:txXfrm>
        <a:off x="47091" y="802906"/>
        <a:ext cx="1829085" cy="1372893"/>
      </dsp:txXfrm>
    </dsp:sp>
    <dsp:sp modelId="{4AF0510B-34F6-49BF-A47A-74E20E2A7E02}">
      <dsp:nvSpPr>
        <dsp:cNvPr id="0" name=""/>
        <dsp:cNvSpPr/>
      </dsp:nvSpPr>
      <dsp:spPr>
        <a:xfrm>
          <a:off x="2110341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10341" y="1346914"/>
        <a:ext cx="284113" cy="284878"/>
      </dsp:txXfrm>
    </dsp:sp>
    <dsp:sp modelId="{0860C7CC-2F13-49A4-B6FA-18FB7B9F8ECF}">
      <dsp:nvSpPr>
        <dsp:cNvPr id="0" name=""/>
        <dsp:cNvSpPr/>
      </dsp:nvSpPr>
      <dsp:spPr>
        <a:xfrm>
          <a:off x="2684695" y="760193"/>
          <a:ext cx="1914511" cy="1458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/>
              <a:ea typeface="+mn-ea"/>
              <a:cs typeface="+mn-cs"/>
            </a:rPr>
            <a:t>Logic (Control)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HabitManager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AuthManager</a:t>
          </a:r>
          <a:r>
            <a:rPr lang="en-US" sz="1400" b="0" kern="1200" dirty="0">
              <a:latin typeface="Calibri"/>
              <a:ea typeface="+mn-ea"/>
              <a:cs typeface="+mn-cs"/>
            </a:rPr>
            <a:t> (optional)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write-through saves</a:t>
          </a:r>
        </a:p>
      </dsp:txBody>
      <dsp:txXfrm>
        <a:off x="2727408" y="802906"/>
        <a:ext cx="1829085" cy="1372893"/>
      </dsp:txXfrm>
    </dsp:sp>
    <dsp:sp modelId="{C90C0909-D885-4808-AC0A-16C07151C133}">
      <dsp:nvSpPr>
        <dsp:cNvPr id="0" name=""/>
        <dsp:cNvSpPr/>
      </dsp:nvSpPr>
      <dsp:spPr>
        <a:xfrm>
          <a:off x="4790658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790658" y="1346914"/>
        <a:ext cx="284113" cy="284878"/>
      </dsp:txXfrm>
    </dsp:sp>
    <dsp:sp modelId="{9259BF9B-9E85-417A-A4E0-703D37423EB7}">
      <dsp:nvSpPr>
        <dsp:cNvPr id="0" name=""/>
        <dsp:cNvSpPr/>
      </dsp:nvSpPr>
      <dsp:spPr>
        <a:xfrm>
          <a:off x="5365011" y="760193"/>
          <a:ext cx="1914511" cy="1458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Storage (Persistence)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Storage interface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SqliteStorage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JsonStorage</a:t>
          </a:r>
          <a:endParaRPr lang="en-US" sz="1400" b="0" kern="1200" dirty="0">
            <a:latin typeface="Calibri"/>
            <a:ea typeface="+mn-ea"/>
            <a:cs typeface="+mn-cs"/>
          </a:endParaRPr>
        </a:p>
      </dsp:txBody>
      <dsp:txXfrm>
        <a:off x="5407724" y="802906"/>
        <a:ext cx="1829085" cy="1372893"/>
      </dsp:txXfrm>
    </dsp:sp>
    <dsp:sp modelId="{7D298A30-D188-400F-87CC-3591A9EF35E6}">
      <dsp:nvSpPr>
        <dsp:cNvPr id="0" name=""/>
        <dsp:cNvSpPr/>
      </dsp:nvSpPr>
      <dsp:spPr>
        <a:xfrm>
          <a:off x="7470974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470974" y="1346914"/>
        <a:ext cx="284113" cy="284878"/>
      </dsp:txXfrm>
    </dsp:sp>
    <dsp:sp modelId="{6D0BC9D2-2A0D-4E3B-BD17-921866035BA2}">
      <dsp:nvSpPr>
        <dsp:cNvPr id="0" name=""/>
        <dsp:cNvSpPr/>
      </dsp:nvSpPr>
      <dsp:spPr>
        <a:xfrm>
          <a:off x="8045328" y="760193"/>
          <a:ext cx="1914511" cy="1458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Analytics (Functional)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pure functions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streaks &amp; filters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no I/O side-effects</a:t>
          </a:r>
        </a:p>
      </dsp:txBody>
      <dsp:txXfrm>
        <a:off x="8088041" y="802906"/>
        <a:ext cx="1829085" cy="1372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EC99B7-5767-50AA-A94E-80C774238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EF1F7-11C1-CD48-956F-A6303FD49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86B64-2806-475F-A0FC-C80581FC737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667C7-89A4-5AC0-E5A4-7E2400573B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27FFF-FD49-25AC-96D2-6A73F377CE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15DBA-6413-45D2-9FDE-0CBAD4A5A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01A7-C48D-4F52-9AF5-98850FAFF68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C5F7-E63D-4D9B-87B1-663EF682B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5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3C5F7-E63D-4D9B-87B1-663EF682B0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1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8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2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2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46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7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11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31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1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32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68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E3FE-B1DF-7FD7-A3F3-D6321B63A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848BC-0D88-01D0-8DDB-5AE3D7019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AA471-4E29-2ED5-755E-A10D517C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21987-C37C-127A-B36F-93FA6336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EE300-1672-B2D8-45AF-7819F8CF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71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B555-99F2-AEE8-C4A7-04699171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401F-7876-EC3C-C71B-2E934116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DFBE6-408B-8ADD-89CA-36B3AAE2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347DD-7584-32E5-F1C7-185E10C1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E31AE-16B3-2B36-1D8A-142CFF0B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18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57C3-1F27-6BA9-BA48-6C491A4F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DC127-099E-8D78-077F-12B1FB580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89E49-DEB9-EB58-29CE-FE4289FF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02D6-58A7-D9D5-D52D-A6412CB1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B82C-D846-8AAE-E8A7-FD385192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384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6734-13B8-CCDC-7B7D-96B4D4D7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013A-39D5-C6B4-697D-EED91D852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E9C56-F985-33CB-8313-F8B9F519A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159AF-F409-F7E8-03F8-5BCD992D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DBD72-8B3C-1CA1-B2B3-4D0688E3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53AEA-5C9B-C60F-5681-7803692E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2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E7EA-EE76-AF37-F889-C450D7EF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320A-989D-9424-15A9-28042ECFC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01B7-C927-3654-4985-694749AB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2C9C1-B013-7C61-46A3-E7B5B0F87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F450A-5D23-4979-AD1B-BCA3D0BBB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71CAB-1BDE-D075-D440-D0D755B6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D63B2-A5E2-FE3F-6A84-C72B7E52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1E80B-C82C-2FEC-B606-0F97F3E1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10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6294-BCD2-0A5A-F7E2-5C220C6B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60200-7064-3C2B-B76E-7C77C5C8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656F6-59C1-8E0E-F4AB-872F2EAC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AFF4A-33F5-227F-D52A-DA5952C6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85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7B91C-F5B0-7A33-9803-1DC6D851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EB638-FF4D-EC89-7C11-192C1583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E6A0-A597-A62E-F24B-D8F26EEF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06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FFCB-6BE1-5C7E-4310-33C62B51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9E1CF-42C8-22DC-6995-70F06551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07F75-3273-D22D-50FB-373A22BC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7A792-48E5-720A-8D56-FA1321F6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5AECD-F322-ABBD-DE2C-A82A12D8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9C533-7C08-EDC9-82A9-BF21F73D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47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9763-5B90-6E64-4D31-ABED8F0F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EF749-AD11-3D39-784E-EBE83CAEF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E24C3-EB60-9364-BD35-8B2F21931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2C30B-EE84-7ACC-D742-EF17AEF7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62AB-9D30-EB18-E9BF-1F87E32D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42FD-1308-9375-66DC-74168A3F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01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1C01-E9E5-9C47-4201-335B1CE2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EACF0-3658-4480-5D4F-68F7D1798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F2BA-4997-8AF0-1745-E33CFEE5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30BA-4F54-4073-5FC1-6A0D3AF1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52DF-855D-1FC0-16E9-6D8FCC1C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2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66AD4-F29D-FBBC-B30A-16DAEEECD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03D8D-FB8B-AFF9-FBBE-03287B005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2A88D-C351-B3CF-65B9-D6C47D33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C0DF1-4895-7C97-3193-23CDAAF1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33465-6A32-4701-9A65-15A1D478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97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6140-B692-D03E-1EE6-11146F62D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80324-9E86-51AC-A626-5321DCBBC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7BC68-8446-749F-50E2-2B2E9202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E848-B66E-1B74-CC2F-04DC394C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7325-7E0B-D29B-2BE1-50A6D41B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89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67E3-F88D-2077-730B-189B156E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3F5B2-9457-079C-8DEE-ACB0F3ABC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6EFC4-D96C-AC13-5F50-C62F536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89AF0-B2BC-B5D0-9607-F4C8E2B3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CB818-CFC1-9C5A-D7B5-F0EF1E47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838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17DE-F369-6FCD-1482-59D420D1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DD71E-67F5-6326-98FC-9AFF4C38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65B4-9700-BB55-235E-52AA2E91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9E46-B564-2FB7-AF63-F64CB6B2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A6F39-CD55-4C79-28C3-EF5F4B0C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65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0BEB-34EE-9536-AA7A-39F9391F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FC98-D3EB-B1B4-54E4-48FAE5B41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8EE8-E1B4-CD00-3627-72EC6981E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5D25D-0049-8076-4A6F-7D31FE12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29D8-45E6-6BAA-7E37-E4700149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9F2E8-51DD-4539-6AD2-9E75E484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9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AB99-4375-EE1A-15DE-D658C0EE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CDC8D-A782-5278-37C4-8F6C38E7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3B0DB-3807-5390-A06B-A814B9312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D8D66-6143-6558-8FA8-5B7B10EBA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F8196-471D-2C92-FFAC-F2CF2918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74627-282B-6F34-5451-E18A797E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A7DCC-EB99-1E22-6DEA-A9F1C233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C22E9-0870-EE36-1267-B0001CD3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85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C1CC-B6E8-E993-E594-183F2B1C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9FB78-D678-0F08-DF68-7D9C15EC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34541-16DD-9955-33FD-BD011A70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E7573-0D24-485B-C72C-1D43939E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34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AE3D0-5AD5-1711-6763-BAAF60A3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52B61-62C2-0978-2393-70BFD47C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7B6D5-D4CD-D3EB-E0CF-40FB5539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5B06-92CD-9683-2CD1-F2685646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FF96-C730-DD5C-7779-DFE05B66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5A4EE-12A6-01F2-5D2E-AE97B5B66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DCFAD-CCBC-867A-3159-A8EBCDB8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5F72-D229-2905-7DA9-9C359B39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F388C-0DD4-0C0A-ECE2-F86D1C3A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27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1F11-5C33-4DAF-AAEC-D249E1A5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42CE2-67EB-95AC-6320-025CE028B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29C5-7696-176A-90F2-785FB2353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25F4-51FD-567E-430F-BB0F9F66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E6CC8-8A1C-856F-FC7A-F7FF792E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BBB9-35C4-A797-04F6-5E2F7EBC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62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11CD-3264-37AA-534F-7EF4ED23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30E5E-0B26-B9B1-B0A1-270E331AA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CD0A4-C6B8-D1BD-EE54-0754339C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B0469-3F24-94BD-5C92-81AA224F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45EA3-785C-B2AD-0DB6-07A5A744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97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5FC50-E150-25E6-C9A7-485919BD0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BC3AE-5B5E-9224-62F6-60E349A2B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E3ADB-3A54-CACC-9490-6AE5F883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9EFB-F9DD-2C78-2AB3-694AC0AD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776E5-7A48-4AA8-B100-6F51CAAD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1BB52A-1119-4C62-AB93-D9C1ED94E90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E0928-4077-6C82-AE23-AAF6BDF4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9D56-23BB-0BD3-2651-B07C68A7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1829B-CC64-8B71-DEEE-9D90425BA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8D16E-5DD9-40F0-A001-9BF546866B5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8D39-C244-FC41-912E-801E1F2BA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A08DD-3326-BE87-F483-2B7B7550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2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D8396-F9D2-B4DA-CD42-CE76CD26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91EBB-2B63-904C-6F4A-BACDB6F7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20F9-F556-76C7-8077-02DE5B5B5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C20F4-BAFA-45E4-A9C8-C2EC2EED0F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6A32-7A3E-3353-D1F0-84CFC06C5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8D67-55DC-DCA9-2E8F-6D037A583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2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7F01-D32B-61E4-7F15-121E1D8E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4470" y="1927879"/>
            <a:ext cx="10342880" cy="860902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Habit Tracker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70646-6A1E-18E0-F319-6AD11A97CC58}"/>
              </a:ext>
            </a:extLst>
          </p:cNvPr>
          <p:cNvSpPr txBox="1"/>
          <p:nvPr/>
        </p:nvSpPr>
        <p:spPr>
          <a:xfrm>
            <a:off x="7792720" y="6354782"/>
            <a:ext cx="4171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IU DLBDSOOFPP01 — Portfolio Part 2 (Development/Reflection)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9A9BD44-5973-AB1F-37E3-7F0752F52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5902" y="5893349"/>
            <a:ext cx="6987645" cy="461433"/>
          </a:xfrm>
        </p:spPr>
        <p:txBody>
          <a:bodyPr/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Nikita Wokurka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2C94F-6F92-C8B0-5BD6-C5630DA79B49}"/>
              </a:ext>
            </a:extLst>
          </p:cNvPr>
          <p:cNvSpPr txBox="1"/>
          <p:nvPr/>
        </p:nvSpPr>
        <p:spPr>
          <a:xfrm>
            <a:off x="2744470" y="2611596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 Habit Tracking Application (Python)</a:t>
            </a:r>
          </a:p>
        </p:txBody>
      </p:sp>
    </p:spTree>
    <p:extLst>
      <p:ext uri="{BB962C8B-B14F-4D97-AF65-F5344CB8AC3E}">
        <p14:creationId xmlns:p14="http://schemas.microsoft.com/office/powerpoint/2010/main" val="36608964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F10E-D400-4013-1DE1-4C8993DA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126D-0DF3-C3B3-39DF-A2A5D54E6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179" y="1828800"/>
            <a:ext cx="10149157" cy="3905250"/>
          </a:xfrm>
        </p:spPr>
        <p:txBody>
          <a:bodyPr anchor="t"/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Goal: track daily/weekly habits, record check-offs, and compute streak analytics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Scope: CLI-only (no GUI), single-user workflow, modular architecture for future UI/storage swaps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Python: 3.7+ (implemented with modern Python features)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Persistence: SQLite by default; JSON as optional alternative backend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309C4-4C67-6FFC-BBFC-EE6671969795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CLI habit tracking backend (OOP + functional analytics)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C44AE-8D8A-03FD-DF67-255128E73B5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17101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7537-1E58-8426-5989-0CEC416B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DF6A-3877-00D7-BB9F-B62025EE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Architecture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371B6-0C7A-1E28-E8BF-06744B19E09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Separation of concerns: CLI → Services/Logic → Storage +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942A9-B4C8-90AF-3ED6-2D08CB7EF181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ED4A911-2C8B-2A32-A872-3B75B8533A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832503"/>
              </p:ext>
            </p:extLst>
          </p:nvPr>
        </p:nvGraphicFramePr>
        <p:xfrm>
          <a:off x="1802179" y="1797009"/>
          <a:ext cx="9964219" cy="2978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CF0855-26FF-E22B-0101-374245FD4306}"/>
              </a:ext>
            </a:extLst>
          </p:cNvPr>
          <p:cNvSpPr txBox="1"/>
          <p:nvPr/>
        </p:nvSpPr>
        <p:spPr>
          <a:xfrm>
            <a:off x="1802179" y="4591050"/>
            <a:ext cx="970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Key rule: UI contains no business logic; analytics functions accept data and return computed results.</a:t>
            </a:r>
          </a:p>
        </p:txBody>
      </p:sp>
    </p:spTree>
    <p:extLst>
      <p:ext uri="{BB962C8B-B14F-4D97-AF65-F5344CB8AC3E}">
        <p14:creationId xmlns:p14="http://schemas.microsoft.com/office/powerpoint/2010/main" val="27786826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50D0-2B1D-48C4-469B-1BE29C61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0B55-2871-7DE2-2243-60EB3F90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Data Model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0EA6B-83F9-99B7-3E3F-DFCF39473591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Habit entity + completion events (suitable for JSON or SQLite)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108A3-EDC7-A54B-D474-7D62BB82FD06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34105A-897E-2755-A13F-8BDC63B7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87" y="2467912"/>
            <a:ext cx="4832649" cy="742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6E3876-7FE6-6CDF-C1B3-64203B917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687" y="3271280"/>
            <a:ext cx="4820331" cy="863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582A0F-798E-69EE-7600-40FE44827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87" y="4226620"/>
            <a:ext cx="4832649" cy="520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6AF40E-7983-ED31-E70F-5CB0348E9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467912"/>
            <a:ext cx="4950734" cy="35353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08758C-C915-8DE8-11D7-1BD3BF9ACE0C}"/>
              </a:ext>
            </a:extLst>
          </p:cNvPr>
          <p:cNvSpPr txBox="1"/>
          <p:nvPr/>
        </p:nvSpPr>
        <p:spPr>
          <a:xfrm>
            <a:off x="1802179" y="2034716"/>
            <a:ext cx="166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Habit entity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F10120-ECE9-0F83-3841-1190E85AF750}"/>
              </a:ext>
            </a:extLst>
          </p:cNvPr>
          <p:cNvSpPr txBox="1"/>
          <p:nvPr/>
        </p:nvSpPr>
        <p:spPr>
          <a:xfrm>
            <a:off x="7019925" y="2057532"/>
            <a:ext cx="884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SQLLite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94062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239D-EF23-B209-19E7-62DCC59F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16DF-BB50-99CF-34DD-16BE1C16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User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2CE74-661E-79F4-DD3C-2B98047AB878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→ Check-off → Persist →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8BC228-D558-E48D-5700-A514DC0E3E3A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FC72DA-F079-3BAD-AD7B-EA1DFD60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88" y="3232987"/>
            <a:ext cx="1851147" cy="10315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39720A-3F10-E224-0617-A56F37CA9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82" y="3334267"/>
            <a:ext cx="3200847" cy="7525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16D15C-DC40-2AC2-6781-5D2AD4202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801" y="5339204"/>
            <a:ext cx="3286584" cy="12860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579B873-DFA8-002D-FFCA-535CA88F0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826" y="4856221"/>
            <a:ext cx="3517392" cy="19700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465ABF0-41E6-D630-D5A4-3FB1ACD1F1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254" y="2016966"/>
            <a:ext cx="3584536" cy="9467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AE9BD73-EFF3-A0DC-8FE5-55613AB75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2574" y="2001902"/>
            <a:ext cx="5285724" cy="10071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80E0D43-8FF2-EE06-409C-15E7B456F1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5373" y="3365831"/>
            <a:ext cx="2169066" cy="1396747"/>
          </a:xfrm>
          <a:prstGeom prst="rect">
            <a:avLst/>
          </a:prstGeom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F305DE7-947D-80EF-1774-3AEC1DC4B670}"/>
              </a:ext>
            </a:extLst>
          </p:cNvPr>
          <p:cNvCxnSpPr>
            <a:cxnSpLocks/>
            <a:stCxn id="33" idx="3"/>
            <a:endCxn id="35" idx="3"/>
          </p:cNvCxnSpPr>
          <p:nvPr/>
        </p:nvCxnSpPr>
        <p:spPr>
          <a:xfrm>
            <a:off x="10648298" y="2505496"/>
            <a:ext cx="1016141" cy="1558709"/>
          </a:xfrm>
          <a:prstGeom prst="bentConnector3">
            <a:avLst>
              <a:gd name="adj1" fmla="val 12249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C4FE8F2-3175-3090-C188-A18F32DD9853}"/>
              </a:ext>
            </a:extLst>
          </p:cNvPr>
          <p:cNvCxnSpPr>
            <a:cxnSpLocks/>
            <a:endCxn id="21" idx="3"/>
          </p:cNvCxnSpPr>
          <p:nvPr/>
        </p:nvCxnSpPr>
        <p:spPr>
          <a:xfrm rot="10800000">
            <a:off x="8059935" y="3748766"/>
            <a:ext cx="1524666" cy="2103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4738F2F-DBF8-7DDB-600E-AB6BC55B54E2}"/>
              </a:ext>
            </a:extLst>
          </p:cNvPr>
          <p:cNvCxnSpPr>
            <a:cxnSpLocks/>
            <a:stCxn id="21" idx="1"/>
            <a:endCxn id="25" idx="3"/>
          </p:cNvCxnSpPr>
          <p:nvPr/>
        </p:nvCxnSpPr>
        <p:spPr>
          <a:xfrm rot="10800000">
            <a:off x="4587530" y="3710557"/>
            <a:ext cx="1621259" cy="382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D3F85DF-C0EA-2A29-D39E-0E5EF60E38C0}"/>
              </a:ext>
            </a:extLst>
          </p:cNvPr>
          <p:cNvCxnSpPr>
            <a:cxnSpLocks/>
          </p:cNvCxnSpPr>
          <p:nvPr/>
        </p:nvCxnSpPr>
        <p:spPr>
          <a:xfrm>
            <a:off x="3212522" y="4075751"/>
            <a:ext cx="6282851" cy="304958"/>
          </a:xfrm>
          <a:prstGeom prst="bentConnector3">
            <a:avLst>
              <a:gd name="adj1" fmla="val -2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9CDF55C7-009C-04F8-4225-D7A80433D01C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5004790" y="2490328"/>
            <a:ext cx="357784" cy="151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23C7872C-B0CF-8961-A2D2-075DF2EBF9D1}"/>
              </a:ext>
            </a:extLst>
          </p:cNvPr>
          <p:cNvCxnSpPr>
            <a:cxnSpLocks/>
            <a:stCxn id="35" idx="2"/>
            <a:endCxn id="27" idx="3"/>
          </p:cNvCxnSpPr>
          <p:nvPr/>
        </p:nvCxnSpPr>
        <p:spPr>
          <a:xfrm rot="5400000">
            <a:off x="9792320" y="5194644"/>
            <a:ext cx="1219653" cy="3555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06945224-A8A1-D2D0-4AA6-B20D4BC5B4DF}"/>
              </a:ext>
            </a:extLst>
          </p:cNvPr>
          <p:cNvCxnSpPr>
            <a:cxnSpLocks/>
            <a:stCxn id="27" idx="1"/>
            <a:endCxn id="29" idx="3"/>
          </p:cNvCxnSpPr>
          <p:nvPr/>
        </p:nvCxnSpPr>
        <p:spPr>
          <a:xfrm rot="10800000">
            <a:off x="4971219" y="5841251"/>
            <a:ext cx="1966583" cy="1409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A3D13B2F-8C40-7E39-2330-0EF1610A1CC6}"/>
              </a:ext>
            </a:extLst>
          </p:cNvPr>
          <p:cNvCxnSpPr>
            <a:cxnSpLocks/>
            <a:stCxn id="29" idx="0"/>
          </p:cNvCxnSpPr>
          <p:nvPr/>
        </p:nvCxnSpPr>
        <p:spPr>
          <a:xfrm rot="5400000" flipH="1" flipV="1">
            <a:off x="6115399" y="1476248"/>
            <a:ext cx="477096" cy="62828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621095E8-C57D-5C90-9103-A539067B800C}"/>
              </a:ext>
            </a:extLst>
          </p:cNvPr>
          <p:cNvSpPr txBox="1"/>
          <p:nvPr/>
        </p:nvSpPr>
        <p:spPr>
          <a:xfrm>
            <a:off x="9366963" y="3049468"/>
            <a:ext cx="112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main menu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F9AD5B6-70D8-9DBF-DB0B-CB6843B24448}"/>
              </a:ext>
            </a:extLst>
          </p:cNvPr>
          <p:cNvSpPr txBox="1"/>
          <p:nvPr/>
        </p:nvSpPr>
        <p:spPr>
          <a:xfrm>
            <a:off x="6876757" y="5001725"/>
            <a:ext cx="1437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analytics menu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6DE68C7-E2F9-11DD-8569-0A51AD5444CF}"/>
              </a:ext>
            </a:extLst>
          </p:cNvPr>
          <p:cNvSpPr txBox="1"/>
          <p:nvPr/>
        </p:nvSpPr>
        <p:spPr>
          <a:xfrm>
            <a:off x="1386682" y="4535417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inspection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D32B05A-A434-E694-26EF-A181CC9B4D53}"/>
              </a:ext>
            </a:extLst>
          </p:cNvPr>
          <p:cNvSpPr txBox="1"/>
          <p:nvPr/>
        </p:nvSpPr>
        <p:spPr>
          <a:xfrm>
            <a:off x="6118536" y="2929832"/>
            <a:ext cx="1345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creation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8B22B98-943D-4128-1099-69F3650B81E4}"/>
              </a:ext>
            </a:extLst>
          </p:cNvPr>
          <p:cNvSpPr txBox="1"/>
          <p:nvPr/>
        </p:nvSpPr>
        <p:spPr>
          <a:xfrm>
            <a:off x="1280887" y="3058054"/>
            <a:ext cx="87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Check-off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D3BB3DC-E3D7-3B3D-CFAD-FE00D33A5ABD}"/>
              </a:ext>
            </a:extLst>
          </p:cNvPr>
          <p:cNvSpPr txBox="1"/>
          <p:nvPr/>
        </p:nvSpPr>
        <p:spPr>
          <a:xfrm>
            <a:off x="1386682" y="1747012"/>
            <a:ext cx="1390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Welcome screen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E88E7CD-770D-A239-32D6-4E21165A0E3B}"/>
              </a:ext>
            </a:extLst>
          </p:cNvPr>
          <p:cNvSpPr txBox="1"/>
          <p:nvPr/>
        </p:nvSpPr>
        <p:spPr>
          <a:xfrm>
            <a:off x="5259063" y="1722078"/>
            <a:ext cx="542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160945247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E2A5-6053-78E8-09C9-2C82860B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9159-2AA2-4FC3-C526-C15BD93E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592B1-8884-639F-7DE6-6E430EE92E2B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Core requirements implemented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F69C5-D145-0771-4389-7E85EC8B8BF6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A46F8-E4B8-079A-0F70-ED575C93A0C8}"/>
              </a:ext>
            </a:extLst>
          </p:cNvPr>
          <p:cNvSpPr txBox="1"/>
          <p:nvPr/>
        </p:nvSpPr>
        <p:spPr>
          <a:xfrm>
            <a:off x="1802179" y="2072816"/>
            <a:ext cx="9048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Supports daily and weekly habits (periodicity is part of the habit definition). </a:t>
            </a:r>
          </a:p>
          <a:p>
            <a:r>
              <a:rPr lang="en-US" dirty="0"/>
              <a:t>• Check-off logging uses timestamps; history enables streak and trend analysis. </a:t>
            </a:r>
          </a:p>
          <a:p>
            <a:r>
              <a:rPr lang="en-US" dirty="0"/>
              <a:t>• Streak computation respects periodicity rules (daily vs weekly). </a:t>
            </a:r>
          </a:p>
          <a:p>
            <a:r>
              <a:rPr lang="en-US" dirty="0"/>
              <a:t>• Predefined fixtures: 5 habits + 4 weeks sample check-offs for quick demo &amp; testing. </a:t>
            </a:r>
          </a:p>
          <a:p>
            <a:r>
              <a:rPr lang="en-US" dirty="0"/>
              <a:t>• Write-through persistence: user actions are saved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110853291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4FA9-58AE-8593-ECFC-A90177A5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A3D8-1F44-4B7F-D729-657E1991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2EFFD-3895-8A42-AA0A-1F2D10F44201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Questions answered (pure functions) + sample CLI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919E9-AF4B-A3CB-9C91-11455DD397F2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25A52-0085-30F7-9C0B-C0C52C490714}"/>
              </a:ext>
            </a:extLst>
          </p:cNvPr>
          <p:cNvSpPr txBox="1"/>
          <p:nvPr/>
        </p:nvSpPr>
        <p:spPr>
          <a:xfrm>
            <a:off x="1905000" y="1857375"/>
            <a:ext cx="4163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List all habits </a:t>
            </a:r>
          </a:p>
          <a:p>
            <a:r>
              <a:rPr lang="en-US" dirty="0"/>
              <a:t>• List habits by periodicity (daily / weekly) </a:t>
            </a:r>
          </a:p>
          <a:p>
            <a:r>
              <a:rPr lang="en-US" dirty="0"/>
              <a:t>• Longest streak overall (across all habits) </a:t>
            </a:r>
          </a:p>
          <a:p>
            <a:r>
              <a:rPr lang="en-US" dirty="0"/>
              <a:t>• Longest streak for a selected habit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49C31-F109-AF32-D3DA-DFBEDEF4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218917"/>
            <a:ext cx="5351456" cy="26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8899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646C-2277-E200-07FB-3EF3ED84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CF6A-23AB-D302-FD45-C1761A7E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Tech Choices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770C2-5EEA-5F68-FE42-812E12C6DAE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Why these tools?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3F0EC-CD58-4558-3ADC-1A9FD9E04108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8FAF3-B425-143C-71B5-384F9F35220E}"/>
              </a:ext>
            </a:extLst>
          </p:cNvPr>
          <p:cNvSpPr txBox="1"/>
          <p:nvPr/>
        </p:nvSpPr>
        <p:spPr>
          <a:xfrm>
            <a:off x="1802179" y="1931847"/>
            <a:ext cx="7181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SQLite: lightweight, zero-config DB; supports structured queries and reliable persistence. </a:t>
            </a:r>
          </a:p>
          <a:p>
            <a:r>
              <a:rPr lang="en-US" dirty="0"/>
              <a:t>• JSON (optional): simple file portability for quick experiments. </a:t>
            </a:r>
          </a:p>
          <a:p>
            <a:r>
              <a:rPr lang="en-US" dirty="0"/>
              <a:t>• questionary: user-friendly interactive CLI menus (less error-prone than raw input()). </a:t>
            </a:r>
          </a:p>
          <a:p>
            <a:r>
              <a:rPr lang="en-US" dirty="0"/>
              <a:t>• </a:t>
            </a:r>
            <a:r>
              <a:rPr lang="en-US" dirty="0" err="1"/>
              <a:t>pytest</a:t>
            </a:r>
            <a:r>
              <a:rPr lang="en-US" dirty="0"/>
              <a:t>: fast unit tests for streak rules and analytics correctness. </a:t>
            </a:r>
          </a:p>
          <a:p>
            <a:r>
              <a:rPr lang="en-US" dirty="0"/>
              <a:t>• </a:t>
            </a:r>
            <a:r>
              <a:rPr lang="en-US" dirty="0" err="1"/>
              <a:t>stdlib</a:t>
            </a:r>
            <a:r>
              <a:rPr lang="en-US" dirty="0"/>
              <a:t>: sqlite3/</a:t>
            </a:r>
            <a:r>
              <a:rPr lang="en-US" dirty="0" err="1"/>
              <a:t>json</a:t>
            </a:r>
            <a:r>
              <a:rPr lang="en-US" dirty="0"/>
              <a:t>/datetime + </a:t>
            </a:r>
            <a:r>
              <a:rPr lang="en-US" dirty="0" err="1"/>
              <a:t>hashlib</a:t>
            </a:r>
            <a:r>
              <a:rPr lang="en-US" dirty="0"/>
              <a:t> for secure password hashing (if auth enabled).</a:t>
            </a:r>
          </a:p>
        </p:txBody>
      </p:sp>
    </p:spTree>
    <p:extLst>
      <p:ext uri="{BB962C8B-B14F-4D97-AF65-F5344CB8AC3E}">
        <p14:creationId xmlns:p14="http://schemas.microsoft.com/office/powerpoint/2010/main" val="11069212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F24F-6CC5-8EE6-C52C-8E329426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69D8-69DE-C5C7-007F-FCC11DE5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How to Run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AE84C-35A7-F9C3-D0A3-9F3DF88084C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Clean install + common commands (copy/paste)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C50A5-B7DD-B6E9-D72C-FC585D6D48A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842EF-12A5-E9CA-8D37-6F97D00F5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950897"/>
            <a:ext cx="4666980" cy="4211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50B488-B66E-EC6B-5BBE-8C247A03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756" y="1950896"/>
            <a:ext cx="4803929" cy="22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0654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8B77-22E3-10CC-D251-24134B10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A06B-979B-DF1E-1598-494A255B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Tests &amp;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69E50-1AB1-9014-2FD7-4B9AB1461497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Confidence in streak rules + pure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D4C14-F4CC-857B-CEC9-02CCE990927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43AA6-A86D-E500-3ABD-8015054E1BB6}"/>
              </a:ext>
            </a:extLst>
          </p:cNvPr>
          <p:cNvSpPr txBox="1"/>
          <p:nvPr/>
        </p:nvSpPr>
        <p:spPr>
          <a:xfrm>
            <a:off x="1905000" y="1962150"/>
            <a:ext cx="9591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Unit tests cover: habit creation, check-off behavior, streak calculations, analytics filters. • Edge cases handled: duplicate check-offs in same period; empty completion history; mixed daily/weekly. • Storage is abstracted → tests can use </a:t>
            </a:r>
            <a:r>
              <a:rPr lang="en-US" dirty="0" err="1"/>
              <a:t>InMemoryStorage</a:t>
            </a:r>
            <a:r>
              <a:rPr lang="en-US" dirty="0"/>
              <a:t> to isolate logic. • Docstrings + README ensure reproducible setup and usage.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AC854-452D-8680-61AC-E003334A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79" y="3409417"/>
            <a:ext cx="1019317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4727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9633-B2C7-DB54-1189-0C693DED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2916-525D-2A39-B3B1-AB4738BB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Reflection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347F3-C265-CF82-BFFF-B674B9BF8025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worked, trade-offs, limits, next steps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2BCA8-C7CA-77E4-3FC7-72C63066909E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FBB8D-D59F-EC6E-314E-0C0D9FC9C055}"/>
              </a:ext>
            </a:extLst>
          </p:cNvPr>
          <p:cNvSpPr txBox="1"/>
          <p:nvPr/>
        </p:nvSpPr>
        <p:spPr>
          <a:xfrm>
            <a:off x="1802179" y="1988997"/>
            <a:ext cx="9861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Worked well: clean separation (UI/logic/storage/analytics) → easier testing and maintenance. </a:t>
            </a:r>
          </a:p>
          <a:p>
            <a:r>
              <a:rPr lang="en-US" dirty="0"/>
              <a:t>• Trade-offs: CLI-first UX keeps scope tight; SQLite adds structure vs JSON simplicity. </a:t>
            </a:r>
          </a:p>
          <a:p>
            <a:r>
              <a:rPr lang="en-US" dirty="0"/>
              <a:t>• Known limits: single user; basic reporting; no reminders/notifications; minimal visualization. </a:t>
            </a:r>
          </a:p>
          <a:p>
            <a:r>
              <a:rPr lang="en-US" dirty="0"/>
              <a:t>• Next steps: richer analytics (missed periods, trends), export CSV, multi-user profiles, optional web UI.</a:t>
            </a:r>
          </a:p>
        </p:txBody>
      </p:sp>
    </p:spTree>
    <p:extLst>
      <p:ext uri="{BB962C8B-B14F-4D97-AF65-F5344CB8AC3E}">
        <p14:creationId xmlns:p14="http://schemas.microsoft.com/office/powerpoint/2010/main" val="1494221456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372</TotalTime>
  <Words>569</Words>
  <Application>Microsoft Office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Parallax</vt:lpstr>
      <vt:lpstr>Custom Design</vt:lpstr>
      <vt:lpstr>1_Custom Design</vt:lpstr>
      <vt:lpstr>Habit Tracker App</vt:lpstr>
      <vt:lpstr>Overview</vt:lpstr>
      <vt:lpstr>Architecture </vt:lpstr>
      <vt:lpstr>Data Model </vt:lpstr>
      <vt:lpstr>User Flow</vt:lpstr>
      <vt:lpstr>Key Features</vt:lpstr>
      <vt:lpstr>Analytics</vt:lpstr>
      <vt:lpstr>Tech Choices</vt:lpstr>
      <vt:lpstr>How to Run </vt:lpstr>
      <vt:lpstr>Tests &amp; Quality</vt:lpstr>
      <vt:lpstr>Reflection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Wokurka</dc:creator>
  <cp:lastModifiedBy>Nikita Wokurka</cp:lastModifiedBy>
  <cp:revision>16</cp:revision>
  <dcterms:created xsi:type="dcterms:W3CDTF">2025-12-17T11:59:51Z</dcterms:created>
  <dcterms:modified xsi:type="dcterms:W3CDTF">2025-12-17T18:12:37Z</dcterms:modified>
</cp:coreProperties>
</file>